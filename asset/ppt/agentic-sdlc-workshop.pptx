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288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3749040" y="0"/>
            <a:ext cx="457200" cy="6858000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4133088" y="0"/>
            <a:ext cx="73152" cy="685800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411480" y="50292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Shape 4"/>
          <p:cNvSpPr/>
          <p:nvPr/>
        </p:nvSpPr>
        <p:spPr>
          <a:xfrm>
            <a:off x="795528" y="50292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Shape 5"/>
          <p:cNvSpPr/>
          <p:nvPr/>
        </p:nvSpPr>
        <p:spPr>
          <a:xfrm>
            <a:off x="1179576" y="50292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Shape 6"/>
          <p:cNvSpPr/>
          <p:nvPr/>
        </p:nvSpPr>
        <p:spPr>
          <a:xfrm>
            <a:off x="411480" y="88696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795528" y="88696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1179576" y="88696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411480" y="127101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795528" y="127101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179576" y="127101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411480" y="165506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795528" y="165506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1179576" y="165506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411480" y="2039112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795528" y="2039112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1179576" y="2039112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411480" y="242316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795528" y="242316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1179576" y="242316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411480" y="280720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795528" y="280720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1179576" y="280720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411480" y="319125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795528" y="319125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1179576" y="319125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411480" y="357530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795528" y="357530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1179576" y="357530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Shape 30"/>
          <p:cNvSpPr/>
          <p:nvPr/>
        </p:nvSpPr>
        <p:spPr>
          <a:xfrm>
            <a:off x="411480" y="3959352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795528" y="3959352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1179576" y="3959352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411480" y="434340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795528" y="434340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1179576" y="4343400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Shape 36"/>
          <p:cNvSpPr/>
          <p:nvPr/>
        </p:nvSpPr>
        <p:spPr>
          <a:xfrm>
            <a:off x="411480" y="472744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9" name="Shape 37"/>
          <p:cNvSpPr/>
          <p:nvPr/>
        </p:nvSpPr>
        <p:spPr>
          <a:xfrm>
            <a:off x="795528" y="472744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Shape 38"/>
          <p:cNvSpPr/>
          <p:nvPr/>
        </p:nvSpPr>
        <p:spPr>
          <a:xfrm>
            <a:off x="1179576" y="4727448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1" name="Shape 39"/>
          <p:cNvSpPr/>
          <p:nvPr/>
        </p:nvSpPr>
        <p:spPr>
          <a:xfrm>
            <a:off x="411480" y="511149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2" name="Shape 40"/>
          <p:cNvSpPr/>
          <p:nvPr/>
        </p:nvSpPr>
        <p:spPr>
          <a:xfrm>
            <a:off x="795528" y="511149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Shape 41"/>
          <p:cNvSpPr/>
          <p:nvPr/>
        </p:nvSpPr>
        <p:spPr>
          <a:xfrm>
            <a:off x="1179576" y="5111496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4" name="Shape 42"/>
          <p:cNvSpPr/>
          <p:nvPr/>
        </p:nvSpPr>
        <p:spPr>
          <a:xfrm>
            <a:off x="411480" y="549554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5" name="Shape 43"/>
          <p:cNvSpPr/>
          <p:nvPr/>
        </p:nvSpPr>
        <p:spPr>
          <a:xfrm>
            <a:off x="795528" y="549554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6" name="Shape 44"/>
          <p:cNvSpPr/>
          <p:nvPr/>
        </p:nvSpPr>
        <p:spPr>
          <a:xfrm>
            <a:off x="1179576" y="5495544"/>
            <a:ext cx="54864" cy="54864"/>
          </a:xfrm>
          <a:prstGeom prst="ellipse">
            <a:avLst/>
          </a:prstGeom>
          <a:solidFill>
            <a:srgbClr val="24315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7" name="Shape 45"/>
          <p:cNvSpPr/>
          <p:nvPr/>
        </p:nvSpPr>
        <p:spPr>
          <a:xfrm>
            <a:off x="502920" y="5440680"/>
            <a:ext cx="411480" cy="4572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8" name="Text 46"/>
          <p:cNvSpPr/>
          <p:nvPr/>
        </p:nvSpPr>
        <p:spPr>
          <a:xfrm>
            <a:off x="502920" y="5577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CUSTOMER WORKSHOP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2920" y="5897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 ·  3 hours  ·  6 labs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84632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8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846320" y="196596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</a:t>
            </a:r>
            <a:endParaRPr lang="en-US" sz="6400" dirty="0"/>
          </a:p>
        </p:txBody>
      </p:sp>
      <p:sp>
        <p:nvSpPr>
          <p:cNvPr id="52" name="Text 50"/>
          <p:cNvSpPr/>
          <p:nvPr/>
        </p:nvSpPr>
        <p:spPr>
          <a:xfrm>
            <a:off x="4846320" y="315468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GitHub</a:t>
            </a:r>
            <a:endParaRPr lang="en-US" sz="6400" dirty="0"/>
          </a:p>
        </p:txBody>
      </p:sp>
      <p:sp>
        <p:nvSpPr>
          <p:cNvPr id="53" name="Shape 51"/>
          <p:cNvSpPr/>
          <p:nvPr/>
        </p:nvSpPr>
        <p:spPr>
          <a:xfrm>
            <a:off x="4846320" y="4526280"/>
            <a:ext cx="1280160" cy="64008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4" name="Text 52"/>
          <p:cNvSpPr/>
          <p:nvPr/>
        </p:nvSpPr>
        <p:spPr>
          <a:xfrm>
            <a:off x="4846320" y="475488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kern="0" spc="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 ·  Build  ·  Review  ·  Secure  ·  Remediate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4846320" y="52120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 a working full-stack app — agents do the work; GitHub governs the merge.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4846320" y="621792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Facilitator deck  ·  Attendees follow the markdown labs in the repository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minutes  ·  six labs  ·  one working full-stack app.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move together. Each lab ends with a green checkpoint before we proceed.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5212080"/>
            <a:ext cx="11094415" cy="73152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48640" y="5212080"/>
            <a:ext cx="91" cy="7315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548640" y="5157216"/>
            <a:ext cx="491729" cy="182880"/>
          </a:xfrm>
          <a:prstGeom prst="rect">
            <a:avLst/>
          </a:prstGeom>
          <a:solidFill>
            <a:srgbClr val="92929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1076945" y="5157216"/>
            <a:ext cx="755882" cy="18288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1869404" y="5157216"/>
            <a:ext cx="1812493" cy="182880"/>
          </a:xfrm>
          <a:prstGeom prst="rect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3718473" y="5157216"/>
            <a:ext cx="1284188" cy="18288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5039237" y="5157216"/>
            <a:ext cx="755882" cy="182880"/>
          </a:xfrm>
          <a:prstGeom prst="rect">
            <a:avLst/>
          </a:prstGeom>
          <a:solidFill>
            <a:srgbClr val="92929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5831695" y="5157216"/>
            <a:ext cx="1812493" cy="182880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7680764" y="5157216"/>
            <a:ext cx="1812493" cy="18288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9529833" y="5157216"/>
            <a:ext cx="1812493" cy="182880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11378902" y="5157216"/>
            <a:ext cx="227577" cy="182880"/>
          </a:xfrm>
          <a:prstGeom prst="rect">
            <a:avLst/>
          </a:prstGeom>
          <a:solidFill>
            <a:srgbClr val="92929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808221" y="5047488"/>
            <a:ext cx="9144" cy="109728"/>
          </a:xfrm>
          <a:prstGeom prst="rect">
            <a:avLst/>
          </a:prstGeom>
          <a:solidFill>
            <a:srgbClr val="92929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1468603" y="5047488"/>
            <a:ext cx="9144" cy="109728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2789366" y="5047488"/>
            <a:ext cx="9144" cy="109728"/>
          </a:xfrm>
          <a:prstGeom prst="rect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4374283" y="5047488"/>
            <a:ext cx="9144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5430894" y="5047488"/>
            <a:ext cx="9144" cy="109728"/>
          </a:xfrm>
          <a:prstGeom prst="rect">
            <a:avLst/>
          </a:prstGeom>
          <a:solidFill>
            <a:srgbClr val="92929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6751657" y="5047488"/>
            <a:ext cx="9144" cy="109728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8600727" y="5047488"/>
            <a:ext cx="9144" cy="109728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10449796" y="5047488"/>
            <a:ext cx="9144" cy="109728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11506407" y="5047488"/>
            <a:ext cx="9144" cy="109728"/>
          </a:xfrm>
          <a:prstGeom prst="rect">
            <a:avLst/>
          </a:prstGeom>
          <a:solidFill>
            <a:srgbClr val="92929A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548640" y="2514600"/>
            <a:ext cx="175000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548640" y="2514600"/>
            <a:ext cx="1750009" cy="7315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685800" y="2697480"/>
            <a:ext cx="1475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5800" y="2971800"/>
            <a:ext cx="14756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agents + skills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85800" y="3749040"/>
            <a:ext cx="14756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3 agents and 3 on-demand skills — committed to the repo.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417521" y="2514600"/>
            <a:ext cx="175000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Shape 32"/>
          <p:cNvSpPr/>
          <p:nvPr/>
        </p:nvSpPr>
        <p:spPr>
          <a:xfrm>
            <a:off x="2417521" y="2514600"/>
            <a:ext cx="1750009" cy="73152"/>
          </a:xfrm>
          <a:prstGeom prst="rect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2554681" y="2697480"/>
            <a:ext cx="1475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8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54681" y="2971800"/>
            <a:ext cx="14756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MVP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2554681" y="3749040"/>
            <a:ext cx="14756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 → app-builder → qa-agent. End with a green test suite.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286402" y="2514600"/>
            <a:ext cx="175000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Shape 37"/>
          <p:cNvSpPr/>
          <p:nvPr/>
        </p:nvSpPr>
        <p:spPr>
          <a:xfrm>
            <a:off x="4286402" y="2514600"/>
            <a:ext cx="1750009" cy="7315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/>
          <p:nvPr/>
        </p:nvSpPr>
        <p:spPr>
          <a:xfrm>
            <a:off x="4423562" y="2697480"/>
            <a:ext cx="1475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423562" y="2971800"/>
            <a:ext cx="14756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+ protect main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423562" y="3749040"/>
            <a:ext cx="14756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to GitHub. Install the protect-main ruleset with 6 rules.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155284" y="2514600"/>
            <a:ext cx="175000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4" name="Shape 42"/>
          <p:cNvSpPr/>
          <p:nvPr/>
        </p:nvSpPr>
        <p:spPr>
          <a:xfrm>
            <a:off x="6155284" y="2514600"/>
            <a:ext cx="1750009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6292444" y="2697480"/>
            <a:ext cx="1475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92444" y="2971800"/>
            <a:ext cx="14756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Coding Agent × 3 in parallel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292444" y="3749040"/>
            <a:ext cx="14756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Plan Mode session → three disjoint issues → three draft PRs in cloud.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24165" y="2514600"/>
            <a:ext cx="175000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9" name="Shape 47"/>
          <p:cNvSpPr/>
          <p:nvPr/>
        </p:nvSpPr>
        <p:spPr>
          <a:xfrm>
            <a:off x="8024165" y="2514600"/>
            <a:ext cx="1750009" cy="73152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8161325" y="2697480"/>
            <a:ext cx="1475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61325" y="2971800"/>
            <a:ext cx="14756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GHAS + Code Quality</a:t>
            </a:r>
            <a:endParaRPr lang="en-US" sz="1350" dirty="0"/>
          </a:p>
        </p:txBody>
      </p:sp>
      <p:sp>
        <p:nvSpPr>
          <p:cNvPr id="52" name="Text 50"/>
          <p:cNvSpPr/>
          <p:nvPr/>
        </p:nvSpPr>
        <p:spPr>
          <a:xfrm>
            <a:off x="8161325" y="3749040"/>
            <a:ext cx="14756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4 scanners. Seed 4 intentional findings. Triage. Hand off to Coding Agent.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9893046" y="2514600"/>
            <a:ext cx="1750009" cy="2331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Shape 52"/>
          <p:cNvSpPr/>
          <p:nvPr/>
        </p:nvSpPr>
        <p:spPr>
          <a:xfrm>
            <a:off x="9893046" y="2514600"/>
            <a:ext cx="1750009" cy="73152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5" name="Text 53"/>
          <p:cNvSpPr/>
          <p:nvPr/>
        </p:nvSpPr>
        <p:spPr>
          <a:xfrm>
            <a:off x="10030206" y="2697480"/>
            <a:ext cx="14756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5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0030206" y="2971800"/>
            <a:ext cx="147568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Remediate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10030206" y="3749040"/>
            <a:ext cx="1475689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Autofix (Option A) + Coding Agent (Option B). Close 4 alerts in the browser.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9" name="Text 57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/ 28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START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Sixty seconds — raise your hand on any line that's red.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something is missing, fix it now. The labs build on each other.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3694176" cy="411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73152" cy="41148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Shape 8"/>
          <p:cNvSpPr/>
          <p:nvPr/>
        </p:nvSpPr>
        <p:spPr>
          <a:xfrm>
            <a:off x="822960" y="2651760"/>
            <a:ext cx="685800" cy="685800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1" name="Text 9"/>
          <p:cNvSpPr/>
          <p:nvPr/>
        </p:nvSpPr>
        <p:spPr>
          <a:xfrm>
            <a:off x="822960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◐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645920" y="269748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Accounts &amp; licenses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22960" y="3520440"/>
            <a:ext cx="3191256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822960" y="3776472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1143000" y="370332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Enterprise Cloud member of the workshop org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343400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1143000" y="4270248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Business / Enterprise seat assigned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22960" y="4910328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1143000" y="483717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 policies enabled: Coding Agent · Code Review · MCP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1688" y="2331720"/>
            <a:ext cx="3694176" cy="411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4361688" y="2331720"/>
            <a:ext cx="73152" cy="41148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4636008" y="2651760"/>
            <a:ext cx="685800" cy="685800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4636008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▣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58968" y="269748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tooling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636008" y="3520440"/>
            <a:ext cx="3191256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4636008" y="3776472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956048" y="370332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1.95+ with Copilot + Copilot Chat extensions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636008" y="4343400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4956048" y="4270248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Pull Requests extension installed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636008" y="4910328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4956048" y="483717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20 LTS · npm 10+ · Git 2.40+ · GitHub CLI 2.50+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636008" y="5477256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4956048" y="54041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signing configured (GPG / SSH / web UI)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74736" y="2331720"/>
            <a:ext cx="3694176" cy="4114800"/>
          </a:xfrm>
          <a:prstGeom prst="rect">
            <a:avLst/>
          </a:prstGeom>
          <a:solidFill>
            <a:srgbClr val="FFFFFF"/>
          </a:solidFill>
          <a:ln w="762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8174736" y="2331720"/>
            <a:ext cx="73152" cy="41148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8449056" y="2651760"/>
            <a:ext cx="685800" cy="685800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8449056" y="265176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◇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272016" y="2697480"/>
            <a:ext cx="24140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assumed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8449056" y="3520440"/>
            <a:ext cx="3191256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Shape 38"/>
          <p:cNvSpPr/>
          <p:nvPr/>
        </p:nvSpPr>
        <p:spPr>
          <a:xfrm>
            <a:off x="8449056" y="3776472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8769096" y="3703320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Clone / branch / commit / push with Git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449056" y="4343400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8769096" y="4270248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Have written REST endpoints (Express-style)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449056" y="4910328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8769096" y="4837176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Have built a small React component (hooks + JSX)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449056" y="5477256"/>
            <a:ext cx="201168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A6A6E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8769096" y="5404104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Have used Copilot inline suggestions + Chat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9" name="Text 47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/ 28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STACK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all build the same full-stack app. No choices to make.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architecture — a React UI talking to an Express API talking to in-memory SQLite.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56032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731520" y="2560320"/>
            <a:ext cx="3291840" cy="50292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91440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188720" y="3337560"/>
            <a:ext cx="2377440" cy="1371600"/>
          </a:xfrm>
          <a:prstGeom prst="rect">
            <a:avLst/>
          </a:prstGeom>
          <a:solidFill>
            <a:srgbClr val="F4F4F7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1188720" y="3337560"/>
            <a:ext cx="2377440" cy="201168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1243584" y="3401568"/>
            <a:ext cx="73152" cy="73152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1362456" y="3401568"/>
            <a:ext cx="73152" cy="73152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1481328" y="3401568"/>
            <a:ext cx="73152" cy="73152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1691640" y="3383280"/>
            <a:ext cx="1737360" cy="1097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1691640" y="3374136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localhost:5173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1371600" y="3657600"/>
            <a:ext cx="640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1435608" y="3703320"/>
            <a:ext cx="502920" cy="411480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1435608" y="4160520"/>
            <a:ext cx="502920" cy="45720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1435608" y="4251960"/>
            <a:ext cx="320040" cy="45720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2148840" y="3657600"/>
            <a:ext cx="640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2212848" y="3703320"/>
            <a:ext cx="502920" cy="411480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2212848" y="4160520"/>
            <a:ext cx="502920" cy="45720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2212848" y="4251960"/>
            <a:ext cx="320040" cy="45720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2926080" y="3657600"/>
            <a:ext cx="64008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2990088" y="3703320"/>
            <a:ext cx="502920" cy="411480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2990088" y="4160520"/>
            <a:ext cx="502920" cy="45720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2990088" y="4251960"/>
            <a:ext cx="320040" cy="45720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914400" y="4754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  ·  :5173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14400" y="5010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5  ·  React 18 + TS  ·  TailwindCSS 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56032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4663440" y="2560320"/>
            <a:ext cx="3291840" cy="502920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484632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SERVER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120640" y="3383280"/>
            <a:ext cx="2377440" cy="1280160"/>
          </a:xfrm>
          <a:prstGeom prst="rect">
            <a:avLst/>
          </a:prstGeom>
          <a:solidFill>
            <a:srgbClr val="F4F4F7"/>
          </a:solidFill>
          <a:ln w="1270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5257800" y="3493008"/>
            <a:ext cx="548640" cy="164592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5257800" y="34930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5852160" y="34930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/api/health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257800" y="3712464"/>
            <a:ext cx="548640" cy="164592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/>
          <p:nvPr/>
        </p:nvSpPr>
        <p:spPr>
          <a:xfrm>
            <a:off x="5257800" y="3712464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52160" y="37124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/api/products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57800" y="3931920"/>
            <a:ext cx="548640" cy="16459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5257800" y="39319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852160" y="39319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/api/cart/items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257800" y="4151376"/>
            <a:ext cx="548640" cy="164592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5257800" y="4151376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PATCH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52160" y="415137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/api/cart/items/:id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257800" y="4370832"/>
            <a:ext cx="548640" cy="164592"/>
          </a:xfrm>
          <a:prstGeom prst="rect">
            <a:avLst/>
          </a:prstGeom>
          <a:solidFill>
            <a:srgbClr val="C4232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9" name="Text 47"/>
          <p:cNvSpPr/>
          <p:nvPr/>
        </p:nvSpPr>
        <p:spPr>
          <a:xfrm>
            <a:off x="5257800" y="437083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52160" y="437083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2B2B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/api/cart/items/:id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846320" y="4754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  ·  :3001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46320" y="5010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4 (ESM) + TS  ·  /api/*  ·  Jest + supertest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595360" y="2560320"/>
            <a:ext cx="32918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4" name="Shape 52"/>
          <p:cNvSpPr/>
          <p:nvPr/>
        </p:nvSpPr>
        <p:spPr>
          <a:xfrm>
            <a:off x="8595360" y="2560320"/>
            <a:ext cx="3291840" cy="502920"/>
          </a:xfrm>
          <a:prstGeom prst="rect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5" name="Text 53"/>
          <p:cNvSpPr/>
          <p:nvPr/>
        </p:nvSpPr>
        <p:spPr>
          <a:xfrm>
            <a:off x="877824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9509760" y="3383280"/>
            <a:ext cx="1463040" cy="365760"/>
          </a:xfrm>
          <a:prstGeom prst="ellipse">
            <a:avLst/>
          </a:prstGeom>
          <a:solidFill>
            <a:srgbClr val="008DCC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7" name="Shape 55"/>
          <p:cNvSpPr/>
          <p:nvPr/>
        </p:nvSpPr>
        <p:spPr>
          <a:xfrm>
            <a:off x="9509760" y="3566160"/>
            <a:ext cx="1463040" cy="91440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8" name="Shape 56"/>
          <p:cNvSpPr/>
          <p:nvPr/>
        </p:nvSpPr>
        <p:spPr>
          <a:xfrm>
            <a:off x="9509760" y="4297680"/>
            <a:ext cx="1463040" cy="365760"/>
          </a:xfrm>
          <a:prstGeom prst="ellipse">
            <a:avLst/>
          </a:prstGeom>
          <a:solidFill>
            <a:srgbClr val="1FB6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9" name="Shape 57"/>
          <p:cNvSpPr/>
          <p:nvPr/>
        </p:nvSpPr>
        <p:spPr>
          <a:xfrm>
            <a:off x="9509760" y="3383280"/>
            <a:ext cx="1463040" cy="365760"/>
          </a:xfrm>
          <a:prstGeom prst="ellipse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0" name="Text 58"/>
          <p:cNvSpPr/>
          <p:nvPr/>
        </p:nvSpPr>
        <p:spPr>
          <a:xfrm>
            <a:off x="9509760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products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9509760" y="41605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cart_items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778240" y="4754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server/src/db.ts  ·  :memory: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778240" y="50109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better-sqlite3  ·  products + cart_items  ·  re-seeded on start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023360" y="3931920"/>
            <a:ext cx="640080" cy="914"/>
          </a:xfrm>
          <a:prstGeom prst="line">
            <a:avLst/>
          </a:prstGeom>
          <a:noFill/>
          <a:ln w="25400">
            <a:solidFill>
              <a:srgbClr val="92929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65" name="Text 63"/>
          <p:cNvSpPr/>
          <p:nvPr/>
        </p:nvSpPr>
        <p:spPr>
          <a:xfrm>
            <a:off x="4023360" y="3566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/api/* (Vite proxy in dev)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955280" y="3931920"/>
            <a:ext cx="640080" cy="914"/>
          </a:xfrm>
          <a:prstGeom prst="line">
            <a:avLst/>
          </a:prstGeom>
          <a:noFill/>
          <a:ln w="25400">
            <a:solidFill>
              <a:srgbClr val="92929A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67" name="Text 65"/>
          <p:cNvSpPr/>
          <p:nvPr/>
        </p:nvSpPr>
        <p:spPr>
          <a:xfrm>
            <a:off x="7955280" y="35661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prepared statements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F4F4F7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9" name="Text 67"/>
          <p:cNvSpPr/>
          <p:nvPr/>
        </p:nvSpPr>
        <p:spPr>
          <a:xfrm>
            <a:off x="731520" y="576072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  </a:t>
            </a: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 and transmitted as integer cents — never floats.    </a:t>
            </a:r>
            <a:r>
              <a:rPr lang="en-US" sz="1100" b="1" kern="0" spc="3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DATABASE  </a:t>
            </a: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:memory: — schema + catalog re-seeded on every server start.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1" name="Text 6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/ 28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LOOP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stages, instrumented end-to-end. We circle back through every lab.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stage pairs an AI capability with a human gate. We'll keep coming back to this diagram.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26680" y="3429000"/>
            <a:ext cx="1920240" cy="1920240"/>
          </a:xfrm>
          <a:prstGeom prst="ellipse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Shape 7"/>
          <p:cNvSpPr/>
          <p:nvPr/>
        </p:nvSpPr>
        <p:spPr>
          <a:xfrm>
            <a:off x="7818120" y="3520440"/>
            <a:ext cx="1737360" cy="1737360"/>
          </a:xfrm>
          <a:prstGeom prst="ellipse">
            <a:avLst/>
          </a:prstGeom>
          <a:solidFill>
            <a:srgbClr val="0A1530"/>
          </a:solidFill>
          <a:ln w="19050">
            <a:solidFill>
              <a:srgbClr val="1FB6FF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0" name="Text 8"/>
          <p:cNvSpPr/>
          <p:nvPr/>
        </p:nvSpPr>
        <p:spPr>
          <a:xfrm>
            <a:off x="7818120" y="35204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126960" y="3017275"/>
            <a:ext cx="728525" cy="529304"/>
          </a:xfrm>
          <a:prstGeom prst="line">
            <a:avLst/>
          </a:prstGeom>
          <a:noFill/>
          <a:ln w="15240">
            <a:solidFill>
              <a:srgbClr val="D1D1D6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 flipH="1">
            <a:off x="9849247" y="4383814"/>
            <a:ext cx="278272" cy="856432"/>
          </a:xfrm>
          <a:prstGeom prst="line">
            <a:avLst/>
          </a:prstGeom>
          <a:noFill/>
          <a:ln w="15240">
            <a:solidFill>
              <a:srgbClr val="D1D1D6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 flipH="1">
            <a:off x="8236547" y="5757686"/>
            <a:ext cx="900506" cy="914"/>
          </a:xfrm>
          <a:prstGeom prst="line">
            <a:avLst/>
          </a:prstGeom>
          <a:noFill/>
          <a:ln w="15240">
            <a:solidFill>
              <a:srgbClr val="D1D1D6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 flipH="1" flipV="1">
            <a:off x="7246081" y="4383814"/>
            <a:ext cx="278272" cy="856432"/>
          </a:xfrm>
          <a:prstGeom prst="line">
            <a:avLst/>
          </a:prstGeom>
          <a:noFill/>
          <a:ln w="15240">
            <a:solidFill>
              <a:srgbClr val="D1D1D6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 flipV="1">
            <a:off x="7518115" y="3017275"/>
            <a:ext cx="728525" cy="529304"/>
          </a:xfrm>
          <a:prstGeom prst="line">
            <a:avLst/>
          </a:prstGeom>
          <a:noFill/>
          <a:ln w="15240">
            <a:solidFill>
              <a:srgbClr val="D1D1D6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8252460" y="2263140"/>
            <a:ext cx="868680" cy="868680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8298180" y="230886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8298180" y="2308860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98180" y="2697480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9861305" y="3432034"/>
            <a:ext cx="868680" cy="868680"/>
          </a:xfrm>
          <a:prstGeom prst="ellipse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9907025" y="3477754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9907025" y="3477754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907025" y="3866374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246781" y="5323346"/>
            <a:ext cx="868680" cy="868680"/>
          </a:xfrm>
          <a:prstGeom prst="ellipse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9292501" y="5369066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9292501" y="5369066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8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92501" y="5757686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8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258139" y="5323346"/>
            <a:ext cx="868680" cy="868680"/>
          </a:xfrm>
          <a:prstGeom prst="ellipse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7303859" y="5369066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7303859" y="5369066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03859" y="5757686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43615" y="3432034"/>
            <a:ext cx="868680" cy="86868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6689335" y="3477754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6689335" y="3477754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689335" y="3866374"/>
            <a:ext cx="77724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48640" y="2697480"/>
            <a:ext cx="365760" cy="365760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54864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51560" y="2651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651760" y="2651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L1, L3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051560" y="28986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 </a:t>
            </a:r>
            <a:r>
              <a:rPr lang="en-US" sz="10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3291840"/>
            <a:ext cx="365760" cy="365760"/>
          </a:xfrm>
          <a:prstGeom prst="ellipse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5156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651760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L0, L1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051560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 </a:t>
            </a:r>
            <a:r>
              <a:rPr lang="en-US" sz="10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agents + skills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156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8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651760" y="3840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L1, L3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51560" y="4087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 </a:t>
            </a:r>
            <a:r>
              <a:rPr lang="en-US" sz="10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Code Review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8640" y="4480560"/>
            <a:ext cx="365760" cy="365760"/>
          </a:xfrm>
          <a:prstGeom prst="ellipse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2" name="Text 50"/>
          <p:cNvSpPr/>
          <p:nvPr/>
        </p:nvSpPr>
        <p:spPr>
          <a:xfrm>
            <a:off x="54864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5156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265176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1051560" y="46817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 </a:t>
            </a:r>
            <a:r>
              <a:rPr lang="en-US" sz="10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CodeQL · Secret · Quality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548640" y="507492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7" name="Text 55"/>
          <p:cNvSpPr/>
          <p:nvPr/>
        </p:nvSpPr>
        <p:spPr>
          <a:xfrm>
            <a:off x="548640" y="5074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051560" y="5029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2651760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L5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51560" y="5276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 </a:t>
            </a:r>
            <a:r>
              <a:rPr lang="en-US" sz="10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Autofix + Coding Agent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" y="5852160"/>
            <a:ext cx="5212080" cy="411480"/>
          </a:xfrm>
          <a:prstGeom prst="rect">
            <a:avLst/>
          </a:prstGeom>
          <a:solidFill>
            <a:srgbClr val="F4F4F7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2" name="Text 60"/>
          <p:cNvSpPr/>
          <p:nvPr/>
        </p:nvSpPr>
        <p:spPr>
          <a:xfrm>
            <a:off x="548640" y="58521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does the work  ·  humans gate the merge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4" name="Text 62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/ 28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4974336" y="0"/>
            <a:ext cx="54864" cy="68580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kern="0" spc="8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28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914400" cy="6400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· Copilot Chat (Agent Mode)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822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143000"/>
            <a:ext cx="6065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Bootstrap — create custom agents and skills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577840" y="2834640"/>
            <a:ext cx="822960" cy="54864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57784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596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577840" y="3596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3 custom agents: app-builder, doc-agent, qa-agent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4434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5778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42672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3 on-demand skills: frontend, backend, docs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527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577840" y="527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51054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Chat: Diagnostics shows 3 agents + 3 skills loaded, then commit locally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/ 28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  ·  AGENTS + SKILLS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GETS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agents (personas) on the left. Three skills (knowledge) on the right.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do the work. Skills load on demand when the conversation matches.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AGENTS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36815" y="2286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400" dirty="0">
                <a:solidFill>
                  <a:srgbClr val="008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ON-DEMAND SKILLS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3840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73152" cy="96012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3291840" y="2788920"/>
            <a:ext cx="960120" cy="237744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3291840" y="278892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app-builder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13639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scaffolder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410712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.github/agents/app-builder.agent.md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48640" y="3822192"/>
            <a:ext cx="3840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548640" y="3822192"/>
            <a:ext cx="73152" cy="96012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3291840" y="3913632"/>
            <a:ext cx="960120" cy="237744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3291840" y="391363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91363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doc-agent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26110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 specialist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535424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.github/agents/doc-agent.agent.md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4946904"/>
            <a:ext cx="3840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548640" y="4946904"/>
            <a:ext cx="73152" cy="96012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3291840" y="5038344"/>
            <a:ext cx="960120" cy="237744"/>
          </a:xfrm>
          <a:prstGeom prst="rect">
            <a:avLst/>
          </a:prstGeom>
          <a:solidFill>
            <a:srgbClr val="D6E6F2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3291840" y="50383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50383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qa-agent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77240" y="53858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author + reviewer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" y="566013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292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.github/agents/qa-agent.agent.md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802575" y="2697480"/>
            <a:ext cx="3840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11569903" y="2697480"/>
            <a:ext cx="73152" cy="960120"/>
          </a:xfrm>
          <a:prstGeom prst="rect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7939735" y="2788920"/>
            <a:ext cx="868680" cy="237744"/>
          </a:xfrm>
          <a:prstGeom prst="rect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7939735" y="278892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8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945575" y="27889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/frontend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31175" y="30815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on edits in client/**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031175" y="331927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+ React + Tailwind layout, typed api.ts, optimistic UI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802575" y="3822192"/>
            <a:ext cx="3840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Shape 40"/>
          <p:cNvSpPr/>
          <p:nvPr/>
        </p:nvSpPr>
        <p:spPr>
          <a:xfrm>
            <a:off x="11569903" y="3822192"/>
            <a:ext cx="73152" cy="960120"/>
          </a:xfrm>
          <a:prstGeom prst="rect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Shape 41"/>
          <p:cNvSpPr/>
          <p:nvPr/>
        </p:nvSpPr>
        <p:spPr>
          <a:xfrm>
            <a:off x="7939735" y="3913632"/>
            <a:ext cx="868680" cy="237744"/>
          </a:xfrm>
          <a:prstGeom prst="rect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7939735" y="3913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8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8945575" y="39136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/backend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031175" y="420624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on edits in server/**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031175" y="4443984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+ SQLite schema, parameterized SQL, /api/* ordering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802575" y="4946904"/>
            <a:ext cx="384048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9" name="Shape 47"/>
          <p:cNvSpPr/>
          <p:nvPr/>
        </p:nvSpPr>
        <p:spPr>
          <a:xfrm>
            <a:off x="11569903" y="4946904"/>
            <a:ext cx="73152" cy="960120"/>
          </a:xfrm>
          <a:prstGeom prst="rect">
            <a:avLst/>
          </a:prstGeom>
          <a:solidFill>
            <a:srgbClr val="008DC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0" name="Shape 48"/>
          <p:cNvSpPr/>
          <p:nvPr/>
        </p:nvSpPr>
        <p:spPr>
          <a:xfrm>
            <a:off x="7939735" y="5038344"/>
            <a:ext cx="868680" cy="237744"/>
          </a:xfrm>
          <a:prstGeom prst="rect">
            <a:avLst/>
          </a:prstGeom>
          <a:solidFill>
            <a:srgbClr val="E0F4F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1" name="Text 49"/>
          <p:cNvSpPr/>
          <p:nvPr/>
        </p:nvSpPr>
        <p:spPr>
          <a:xfrm>
            <a:off x="7939735" y="503834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008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945575" y="50383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/docs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031175" y="533095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loads on edits in README, docs/**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8031175" y="5568696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Section order, mermaid template, API reference, ADR template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389120" y="3177540"/>
            <a:ext cx="3413455" cy="914"/>
          </a:xfrm>
          <a:prstGeom prst="line">
            <a:avLst/>
          </a:prstGeom>
          <a:noFill/>
          <a:ln w="19050">
            <a:solidFill>
              <a:srgbClr val="1FB6FF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56" name="Shape 54"/>
          <p:cNvSpPr/>
          <p:nvPr/>
        </p:nvSpPr>
        <p:spPr>
          <a:xfrm>
            <a:off x="4389120" y="3177540"/>
            <a:ext cx="3413455" cy="1124712"/>
          </a:xfrm>
          <a:prstGeom prst="line">
            <a:avLst/>
          </a:prstGeom>
          <a:noFill/>
          <a:ln w="19050">
            <a:solidFill>
              <a:srgbClr val="1FB6FF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57" name="Shape 55"/>
          <p:cNvSpPr/>
          <p:nvPr/>
        </p:nvSpPr>
        <p:spPr>
          <a:xfrm>
            <a:off x="4389120" y="4302252"/>
            <a:ext cx="3413455" cy="1124712"/>
          </a:xfrm>
          <a:prstGeom prst="line">
            <a:avLst/>
          </a:prstGeom>
          <a:noFill/>
          <a:ln w="19050">
            <a:solidFill>
              <a:srgbClr val="1FB6FF"/>
            </a:solidFill>
            <a:prstDash val="dash"/>
          </a:ln>
        </p:spPr>
        <p:txBody>
          <a:bodyPr/>
          <a:lstStyle/>
          <a:p>
            <a:endParaRPr lang="en-TH"/>
          </a:p>
        </p:txBody>
      </p:sp>
      <p:sp>
        <p:nvSpPr>
          <p:cNvPr id="58" name="Text 56"/>
          <p:cNvSpPr/>
          <p:nvPr/>
        </p:nvSpPr>
        <p:spPr>
          <a:xfrm>
            <a:off x="548640" y="6035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qa-agent doesn't pull skills — its toolset (Jest, Vitest) is enough.    doc-agent uses /docs.    app-builder uses /backend or /frontend depending on which folder it edits.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0" name="Text 58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2" name="Text 60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4" name="Text 62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6" name="Text 64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8" name="Text 66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0" name="Text 68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2" name="Text 70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73" name="Text 71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 / 28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  ·  PROMPT EXAMPLE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PROMPT LOOKS LIKE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 — the /create-agent prompt for app-builder (excerpt).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shape for doc-agent and qa-agent. Full prompts are in lab-00-bootstrap-plan-agents.md.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11094415" cy="3931920"/>
          </a:xfrm>
          <a:prstGeom prst="rect">
            <a:avLst/>
          </a:prstGeom>
          <a:solidFill>
            <a:srgbClr val="0F1117"/>
          </a:solidFill>
          <a:ln w="6350">
            <a:solidFill>
              <a:srgbClr val="0A15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11094415" cy="3657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85800" y="2450592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886968" y="2450592"/>
            <a:ext cx="128016" cy="128016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1088136" y="2450592"/>
            <a:ext cx="128016" cy="128016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1463040" y="2386584"/>
            <a:ext cx="2194560" cy="310896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1463040" y="238658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1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  ·  Agent Mode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331720"/>
            <a:ext cx="11094415" cy="4572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22960" y="2834640"/>
            <a:ext cx="1054577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15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create-agent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15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app-builder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Full-stack scaffolder for the Store app (a small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e-commerce MVP). Generate or modify the Express + better-sqlite3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backend under server/ and the Vite + React + TailwindCSS frontend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under client/.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file editing, terminal, search, fetch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Behaviors in the body: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Parameterized SQL via better-sqlite3 prepared statements.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All backend endpoints under /api/* — never break the prefix.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Money stored and transmitted as integer cents — never floats.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Load /backend on server/**;  load /frontend on client/**.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 as: </a:t>
            </a:r>
            <a:r>
              <a:rPr lang="en-US" sz="1150" dirty="0">
                <a:solidFill>
                  <a:srgbClr val="CE91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.github/agents/app-builder.agent.md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/ 28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  ·  CHECKPOINT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MOVE 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Verify, then commit — Lab 1 starts from this state.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Chat: Diagnostics from the command palette to see what's actually loaded.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11094415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1463040" cy="411480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548640" y="25603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CHECKPOINT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10896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move on when…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3566160"/>
            <a:ext cx="10454335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.github/agents/ contains app-builder.agent.md, doc-agent.agent.md, qa-agent.agent.md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.github/skills/ contains frontend/, backend/, docs/ — each with SKILL.md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Chat: Diagnostics reports 3 custom agents loaded, 3 skills loaded, 0 errors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agents dropdown in Copilot Chat now lists app-builder, doc-agent, qa-agent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local commit exists: chore: scaffold custom agents and skills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548640" y="5852160"/>
            <a:ext cx="73152" cy="4572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777240" y="585216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TIP  </a:t>
            </a: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If an agent is missing, run Developer: Reload Window. If a skill never loads, its description is too vague — make it mention concrete file paths.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 / 28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4974336" y="0"/>
            <a:ext cx="54864" cy="68580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kern="0" spc="8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8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914400" cy="6400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 → Agent Mode (app-builder, qa-agent)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822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143000"/>
            <a:ext cx="6065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full-stack MVP with custom agents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577840" y="2834640"/>
            <a:ext cx="822960" cy="54864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57784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596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577840" y="3596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 (/plan) drafts the design; manually hand off to app-builder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4434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5778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42672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Scaffold backend → seed catalog → scaffold frontend (skills auto-load)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527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577840" y="527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51054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Tighten validation inline; switch to qa-agent; run tests; commit locally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28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  ·  STEP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BEFORE 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 produces the spec. Then we switch the dropdown to app-builder.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Paste the brief below, iterate until the plan looks right, then change agents.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11094415" cy="3840480"/>
          </a:xfrm>
          <a:prstGeom prst="rect">
            <a:avLst/>
          </a:prstGeom>
          <a:solidFill>
            <a:srgbClr val="0F1117"/>
          </a:solidFill>
          <a:ln w="6350">
            <a:solidFill>
              <a:srgbClr val="0A153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685800" y="2587752"/>
            <a:ext cx="128016" cy="128016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886968" y="2587752"/>
            <a:ext cx="128016" cy="128016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Shape 13"/>
          <p:cNvSpPr/>
          <p:nvPr/>
        </p:nvSpPr>
        <p:spPr>
          <a:xfrm>
            <a:off x="1088136" y="2587752"/>
            <a:ext cx="128016" cy="128016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1463040" y="2523744"/>
            <a:ext cx="2194560" cy="310896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1463040" y="2523744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1D1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Chat  ·  Plan Mode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468880"/>
            <a:ext cx="11094415" cy="4572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1054577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2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Build a tiny full-stack e-commerce 'Store' app I can demo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under 30 minutes. Two resources: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products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(read-only catalog, seeded on every server start)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cart      </a:t>
            </a: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(single anonymous in-memory cart per process)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 (fixed):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Backend: Express 4 (ESM) + TypeScript (strict), in server/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Uses better-sqlite3 :memory:; endpoints under /api/*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Frontend: Vite 5 + React 18 + TS + TailwindCSS 3, in client/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Five components, typed api.ts wrapper, /api proxy in dev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Monorepo: npm workspaces; concurrently runs both in dev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Produce: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design summary  +  ordered todo list  +  verification plan.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Defer code generation</a:t>
            </a: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I'll hand this to app-builder next.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 / 28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  ·  STEPS 2–6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PLAN TO RUNNING APP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prompts after Plan Mode — backend, seed, frontend, validation, tests.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the agents dropdown manually at each transition. The conversation context carries.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4400" y="2560320"/>
            <a:ext cx="36576" cy="36576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713232" y="265176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713232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25880" y="262432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app-builder scaffolds the backend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325880" y="295351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ESM + TS + better-sqlite3 :memory:. /api/health returns ok. Empty products list expected.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51415" y="2743200"/>
            <a:ext cx="1600200" cy="274320"/>
          </a:xfrm>
          <a:prstGeom prst="rect">
            <a:avLst/>
          </a:prstGeom>
          <a:solidFill>
            <a:srgbClr val="F4F4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9951415" y="2743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skill auto-loads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13232" y="338328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713232" y="3383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02b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25880" y="335584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app-builder seeds the catalog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325880" y="368503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6–8 products spread across electronics/groceries/books/home. Re-seeded on every server start. One item with stock 0.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951415" y="3474720"/>
            <a:ext cx="1600200" cy="274320"/>
          </a:xfrm>
          <a:prstGeom prst="rect">
            <a:avLst/>
          </a:prstGeom>
          <a:solidFill>
            <a:srgbClr val="F4F4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9951415" y="34747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server/src/seed.ts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13232" y="411480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713232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25880" y="408736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app-builder scaffolds the frontend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1325880" y="441655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 + React + Tailwind. ProductList/ProductCard/Cart/CartItem/StatusRegion. Typed api.ts. Optimistic UI with rollback.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951415" y="4206240"/>
            <a:ext cx="1600200" cy="274320"/>
          </a:xfrm>
          <a:prstGeom prst="rect">
            <a:avLst/>
          </a:prstGeom>
          <a:solidFill>
            <a:srgbClr val="F4F4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9951415" y="4206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skill auto-loads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" y="484632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713232" y="4846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25880" y="481888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Agent Mode chat tightens validation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325880" y="514807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/api/cart/items: 404 unknown product, 409 qty &gt; stock, 400 unknown fields, MERGE duplicates.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9951415" y="4937760"/>
            <a:ext cx="1600200" cy="274320"/>
          </a:xfrm>
          <a:prstGeom prst="rect">
            <a:avLst/>
          </a:prstGeom>
          <a:solidFill>
            <a:srgbClr val="F4F4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9951415" y="4937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Ctrl/Cmd + I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13232" y="5577840"/>
            <a:ext cx="457200" cy="4572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713232" y="5577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325880" y="5550408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to qa-agent and run npm test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1325880" y="5879592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Jest + supertest (server) and Vitest + RTL (client). Enforce ≥80% line / ≥75% branch in BOTH packages.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9951415" y="5669280"/>
            <a:ext cx="1600200" cy="274320"/>
          </a:xfrm>
          <a:prstGeom prst="rect">
            <a:avLst/>
          </a:prstGeom>
          <a:solidFill>
            <a:srgbClr val="F4F4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9951415" y="56692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gate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9" name="Text 47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1" name="Text 49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3" name="Text 51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5" name="Text 53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/ 28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1  ·  CHECKPOINT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WE PUSH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runs, tests pass, committed locally — Lab 2 sets up the remote.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11094415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1" name="Shape 9"/>
          <p:cNvSpPr/>
          <p:nvPr/>
        </p:nvSpPr>
        <p:spPr>
          <a:xfrm>
            <a:off x="548640" y="2377440"/>
            <a:ext cx="1463040" cy="411480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Text 10"/>
          <p:cNvSpPr/>
          <p:nvPr/>
        </p:nvSpPr>
        <p:spPr>
          <a:xfrm>
            <a:off x="548640" y="23774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CHECKPOINT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926080"/>
            <a:ext cx="104543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move on when…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3383280"/>
            <a:ext cx="1045433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run dev starts both servers — open http://localhost:5173 and the seeded products render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to cart, change quantity, remove — all three work; status updates announced to screen readers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curl POST /api/cart/items with unknown product returns 404; with quantity 9999 returns 409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npm test passes in client/ and server/ at or above the coverage thresholds (≥80% / ≥75%)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Code Review — Uncommitted Changes ran and you applied at least one suggestion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feat-style commit (✨ Generate Commit Message) covers the MVP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48640" y="5760720"/>
            <a:ext cx="73152" cy="50292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777240" y="5760720"/>
            <a:ext cx="10728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 MOMENT  </a:t>
            </a: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Open Chat: Diagnostics while the agent edits client/ vs server/ — the room sees /frontend and /backend load on demand.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 / 28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4974336" y="0"/>
            <a:ext cx="54864" cy="685800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kern="0" spc="8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8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914400" cy="6400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 + local Git + VS Code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822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143000"/>
            <a:ext cx="6065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to GitHub and protect main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577840" y="2834640"/>
            <a:ext cx="822960" cy="54864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57784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596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577840" y="3596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the GitHub repository and push the local main branch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4434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5778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42672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 the 'protect-main' branch ruleset — six rules including signed commits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527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577840" y="527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51054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direct push to main is rejected; PR-via-web-UI is accepted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28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2  ·  STEPS + RULESET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PUSH, THEN PROTECT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commands, six branch-protection rules — main becomes append-only.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don't have GPG/SSH signing, plan to merge PRs via the GitHub web UI — it signs automatically.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5760720" cy="914400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760720" cy="29260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Shape 12"/>
          <p:cNvSpPr/>
          <p:nvPr/>
        </p:nvSpPr>
        <p:spPr>
          <a:xfrm>
            <a:off x="640080" y="2843784"/>
            <a:ext cx="201168" cy="201168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5" name="Text 13"/>
          <p:cNvSpPr/>
          <p:nvPr/>
        </p:nvSpPr>
        <p:spPr>
          <a:xfrm>
            <a:off x="640080" y="2843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27889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1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 ·  zsh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13639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remote add origin &lt;repo-url&gt;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4290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0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Empty repo on GitHub.com (no README init).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840480"/>
            <a:ext cx="5760720" cy="914400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548640" y="3840480"/>
            <a:ext cx="5760720" cy="29260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640080" y="3895344"/>
            <a:ext cx="201168" cy="201168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640080" y="3895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384048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1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 ·  zsh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41879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-u origin main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0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Lab 0 + Lab 1 commits go up, including .github/agents/.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4892040"/>
            <a:ext cx="5760720" cy="914400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Shape 25"/>
          <p:cNvSpPr/>
          <p:nvPr/>
        </p:nvSpPr>
        <p:spPr>
          <a:xfrm>
            <a:off x="548640" y="4892040"/>
            <a:ext cx="5760720" cy="292608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640080" y="4946904"/>
            <a:ext cx="201168" cy="201168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640080" y="4946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8920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1D1D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Terminal  ·  zsh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1520" y="52395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→ Rules → Rulesets → New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31520" y="5532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0A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enforcement · target the default branch · no bypass.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0" y="2468880"/>
            <a:ext cx="4967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RULESET  ·  protect-main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675120" y="2788920"/>
            <a:ext cx="496793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Shape 33"/>
          <p:cNvSpPr/>
          <p:nvPr/>
        </p:nvSpPr>
        <p:spPr>
          <a:xfrm>
            <a:off x="6675120" y="2788920"/>
            <a:ext cx="54864" cy="43891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6858000" y="2898648"/>
            <a:ext cx="219456" cy="219456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858000" y="2898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2788920"/>
            <a:ext cx="4327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 deletions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675120" y="3291840"/>
            <a:ext cx="496793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0" name="Shape 38"/>
          <p:cNvSpPr/>
          <p:nvPr/>
        </p:nvSpPr>
        <p:spPr>
          <a:xfrm>
            <a:off x="6675120" y="3291840"/>
            <a:ext cx="54864" cy="43891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1" name="Shape 39"/>
          <p:cNvSpPr/>
          <p:nvPr/>
        </p:nvSpPr>
        <p:spPr>
          <a:xfrm>
            <a:off x="6858000" y="3401568"/>
            <a:ext cx="219456" cy="219456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6858000" y="340156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78040" y="3291840"/>
            <a:ext cx="4327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force pushes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75120" y="3794760"/>
            <a:ext cx="496793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Shape 43"/>
          <p:cNvSpPr/>
          <p:nvPr/>
        </p:nvSpPr>
        <p:spPr>
          <a:xfrm>
            <a:off x="6675120" y="3794760"/>
            <a:ext cx="54864" cy="43891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6" name="Shape 44"/>
          <p:cNvSpPr/>
          <p:nvPr/>
        </p:nvSpPr>
        <p:spPr>
          <a:xfrm>
            <a:off x="6858000" y="3904488"/>
            <a:ext cx="219456" cy="219456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6858000" y="3904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7178040" y="3794760"/>
            <a:ext cx="4327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 a pull request before merging  ·  1 approval  ·  dismiss stale  ·  code-owner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75120" y="4297680"/>
            <a:ext cx="496793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Shape 48"/>
          <p:cNvSpPr/>
          <p:nvPr/>
        </p:nvSpPr>
        <p:spPr>
          <a:xfrm>
            <a:off x="6675120" y="4297680"/>
            <a:ext cx="54864" cy="43891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1" name="Shape 49"/>
          <p:cNvSpPr/>
          <p:nvPr/>
        </p:nvSpPr>
        <p:spPr>
          <a:xfrm>
            <a:off x="6858000" y="4407408"/>
            <a:ext cx="219456" cy="219456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2" name="Text 50"/>
          <p:cNvSpPr/>
          <p:nvPr/>
        </p:nvSpPr>
        <p:spPr>
          <a:xfrm>
            <a:off x="6858000" y="44074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78040" y="4297680"/>
            <a:ext cx="4327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 signed commits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675120" y="4800600"/>
            <a:ext cx="496793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5" name="Shape 53"/>
          <p:cNvSpPr/>
          <p:nvPr/>
        </p:nvSpPr>
        <p:spPr>
          <a:xfrm>
            <a:off x="6675120" y="4800600"/>
            <a:ext cx="54864" cy="43891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6" name="Shape 54"/>
          <p:cNvSpPr/>
          <p:nvPr/>
        </p:nvSpPr>
        <p:spPr>
          <a:xfrm>
            <a:off x="6858000" y="4910328"/>
            <a:ext cx="219456" cy="219456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7" name="Text 55"/>
          <p:cNvSpPr/>
          <p:nvPr/>
        </p:nvSpPr>
        <p:spPr>
          <a:xfrm>
            <a:off x="6858000" y="4910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178040" y="4800600"/>
            <a:ext cx="4327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 status checks to pass  (CodeQL added in Lab 4)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675120" y="5303520"/>
            <a:ext cx="496793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0" name="Shape 58"/>
          <p:cNvSpPr/>
          <p:nvPr/>
        </p:nvSpPr>
        <p:spPr>
          <a:xfrm>
            <a:off x="6675120" y="5303520"/>
            <a:ext cx="54864" cy="438912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1" name="Shape 59"/>
          <p:cNvSpPr/>
          <p:nvPr/>
        </p:nvSpPr>
        <p:spPr>
          <a:xfrm>
            <a:off x="6858000" y="5413248"/>
            <a:ext cx="219456" cy="219456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2" name="Text 60"/>
          <p:cNvSpPr/>
          <p:nvPr/>
        </p:nvSpPr>
        <p:spPr>
          <a:xfrm>
            <a:off x="6858000" y="54132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7178040" y="5303520"/>
            <a:ext cx="43278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 conversation resolution before merging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548640" y="5925312"/>
            <a:ext cx="1109441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65" name="Shape 63"/>
          <p:cNvSpPr/>
          <p:nvPr/>
        </p:nvSpPr>
        <p:spPr>
          <a:xfrm>
            <a:off x="548640" y="5925312"/>
            <a:ext cx="73152" cy="384048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6" name="Text 64"/>
          <p:cNvSpPr/>
          <p:nvPr/>
        </p:nvSpPr>
        <p:spPr>
          <a:xfrm>
            <a:off x="777240" y="5925312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 </a:t>
            </a: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git push origin main on a throwaway commit must be REJECTED. Route through a feature branch + PR + web-UI merge — that should succeed.</a:t>
            </a:r>
            <a:endParaRPr lang="en-US" sz="1150" dirty="0"/>
          </a:p>
        </p:txBody>
      </p:sp>
      <p:sp>
        <p:nvSpPr>
          <p:cNvPr id="67" name="Shape 65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8" name="Text 66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0" name="Text 68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2" name="Text 70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4" name="Text 72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6" name="Text 74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8" name="Text 76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0" name="Text 78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/ 28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5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0" cy="146304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" cy="128016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0911535" y="6711696"/>
            <a:ext cx="1280160" cy="146304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Shape 3"/>
          <p:cNvSpPr/>
          <p:nvPr/>
        </p:nvSpPr>
        <p:spPr>
          <a:xfrm>
            <a:off x="12045391" y="5577840"/>
            <a:ext cx="146304" cy="128016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" name="Text 4"/>
          <p:cNvSpPr/>
          <p:nvPr/>
        </p:nvSpPr>
        <p:spPr>
          <a:xfrm>
            <a:off x="0" y="21945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kern="0" spc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</a:t>
            </a:r>
            <a:endParaRPr lang="en-US" sz="13000" dirty="0"/>
          </a:p>
        </p:txBody>
      </p:sp>
      <p:sp>
        <p:nvSpPr>
          <p:cNvPr id="7" name="Shape 5"/>
          <p:cNvSpPr/>
          <p:nvPr/>
        </p:nvSpPr>
        <p:spPr>
          <a:xfrm>
            <a:off x="4724248" y="4023360"/>
            <a:ext cx="2743200" cy="54864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8" name="Text 6"/>
          <p:cNvSpPr/>
          <p:nvPr/>
        </p:nvSpPr>
        <p:spPr>
          <a:xfrm>
            <a:off x="4724248" y="40233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500" dirty="0">
                <a:solidFill>
                  <a:srgbClr val="0A153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MINUTES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0" y="475488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Stretch  ·  refill  ·  reset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0" y="5486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0C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the break we move to the cloud — Coding Agent ships three parallel PRs.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88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 / 28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4974336" y="0"/>
            <a:ext cx="54864" cy="6858000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kern="0" spc="8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8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914400" cy="64008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Plan Mode + GitHub MCP Server + GitHub.com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822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143000"/>
            <a:ext cx="6065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Coding Agent — three PRs, delegated one at a time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577840" y="2834640"/>
            <a:ext cx="822960" cy="54864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57784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596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577840" y="3596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Coding Agent; bootstrap copilot-instructions.md + docs baseline via doc-agent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4434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5778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42672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 drafts three issue-ready briefs with DISJOINT file scopes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527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0205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577840" y="527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51054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each brief: #create_issue → /delegate (or Cloud mode, or github.com) → iterate via @copilot → Copilot Code Review → merge in dep. order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/ 28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3  ·  STEP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PLAN → THREE PRs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issue briefs with disjoint file scopes — so the PRs don't conflict.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 drafts all three briefs upfront. Step 3 creates + delegates them one at a time via the GitHub MCP Server.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7048" y="2468880"/>
            <a:ext cx="3657600" cy="82296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4267048" y="2468880"/>
            <a:ext cx="3657600" cy="4572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4267048" y="2578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MODE  ·  /plan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67048" y="2926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issue-ready briefs · disjoint file scopes · acceptance criteria as checkboxes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2395728" y="3291840"/>
            <a:ext cx="3700120" cy="640080"/>
          </a:xfrm>
          <a:prstGeom prst="line">
            <a:avLst/>
          </a:prstGeom>
          <a:noFill/>
          <a:ln w="19050">
            <a:solidFill>
              <a:srgbClr val="0067B8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94176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548640" y="3931920"/>
            <a:ext cx="3694176" cy="41148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731520" y="393192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4617720"/>
            <a:ext cx="3328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architecture/**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CONTRIBUTING.md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5303520"/>
            <a:ext cx="3328416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731520" y="537667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 client/  ·  NOT  server/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566928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31520" y="585216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6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doc-agent  +  /docs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1520" y="6062472"/>
            <a:ext cx="3328416" cy="237744"/>
          </a:xfrm>
          <a:prstGeom prst="rect">
            <a:avLst/>
          </a:prstGeom>
          <a:solidFill>
            <a:srgbClr val="F4F4F7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731520" y="606247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copilot/fix-1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095848" y="3291840"/>
            <a:ext cx="112928" cy="640080"/>
          </a:xfrm>
          <a:prstGeom prst="line">
            <a:avLst/>
          </a:prstGeom>
          <a:noFill/>
          <a:ln w="19050">
            <a:solidFill>
              <a:srgbClr val="F2B600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28" name="Shape 26"/>
          <p:cNvSpPr/>
          <p:nvPr/>
        </p:nvSpPr>
        <p:spPr>
          <a:xfrm>
            <a:off x="4361688" y="3931920"/>
            <a:ext cx="3694176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4361688" y="3931920"/>
            <a:ext cx="3694176" cy="41148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4544568" y="393192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544568" y="443484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44568" y="4617720"/>
            <a:ext cx="3328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server/**/*.test.ts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client/**/*.test.tsx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jest/vitest configs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44568" y="5303520"/>
            <a:ext cx="3328416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4544568" y="537667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 production source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44568" y="566928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44568" y="585216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qa-agent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44568" y="6062472"/>
            <a:ext cx="3328416" cy="237744"/>
          </a:xfrm>
          <a:prstGeom prst="rect">
            <a:avLst/>
          </a:prstGeom>
          <a:solidFill>
            <a:srgbClr val="F4F4F7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4544568" y="606247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copilot/fix-2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095848" y="3291840"/>
            <a:ext cx="3925976" cy="640080"/>
          </a:xfrm>
          <a:prstGeom prst="line">
            <a:avLst/>
          </a:prstGeom>
          <a:noFill/>
          <a:ln w="19050">
            <a:solidFill>
              <a:srgbClr val="00A36C"/>
            </a:solidFill>
            <a:prstDash val="solid"/>
            <a:tailEnd type="triangle"/>
          </a:ln>
        </p:spPr>
        <p:txBody>
          <a:bodyPr/>
          <a:lstStyle/>
          <a:p>
            <a:endParaRPr lang="en-TH"/>
          </a:p>
        </p:txBody>
      </p:sp>
      <p:sp>
        <p:nvSpPr>
          <p:cNvPr id="40" name="Shape 38"/>
          <p:cNvSpPr/>
          <p:nvPr/>
        </p:nvSpPr>
        <p:spPr>
          <a:xfrm>
            <a:off x="8174736" y="3931920"/>
            <a:ext cx="3694176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Shape 39"/>
          <p:cNvSpPr/>
          <p:nvPr/>
        </p:nvSpPr>
        <p:spPr>
          <a:xfrm>
            <a:off x="8174736" y="3931920"/>
            <a:ext cx="3694176" cy="411480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8357616" y="3931920"/>
            <a:ext cx="33284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357616" y="443484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TOUCHES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8357616" y="4617720"/>
            <a:ext cx="3328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client/src/components/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CategoryFilter.tsx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minimal App.tsx edit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357616" y="5303520"/>
            <a:ext cx="3328416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8357616" y="537667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23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 server/  ·  NOT  docs/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57616" y="5669280"/>
            <a:ext cx="33284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HONORS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357616" y="5852160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A36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app-builder  +  /frontend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8357616" y="6062472"/>
            <a:ext cx="3328416" cy="237744"/>
          </a:xfrm>
          <a:prstGeom prst="rect">
            <a:avLst/>
          </a:prstGeom>
          <a:solidFill>
            <a:srgbClr val="F4F4F7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8357616" y="6062472"/>
            <a:ext cx="3328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4A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copilot/fix-3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6720840"/>
            <a:ext cx="11094415" cy="0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2" name="Shape 50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3" name="Text 51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5" name="Text 53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7" name="Text 55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9" name="Text 57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1" name="Text 59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3" name="Text 61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5" name="Text 63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/ 28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3  ·  STEP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DELEGATE ONE AT A 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with #create_issue (MCP) — delegate via /delegate, Cloud mode, or github.com.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actions per brief — create, then delegate. Pick any one of the three surfaces below. Repeat for each brief.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3694176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694176" cy="384048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731520" y="2468880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/delegate · in chat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337560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in flow · zero clicks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703320"/>
            <a:ext cx="3328416" cy="1920240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3145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#create_issue returns #42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/delegate</a:t>
            </a: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#42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Provided by the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GitHub Pull Requests ext.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👀 reaction + draft PR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~30 seconds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61688" y="2468880"/>
            <a:ext cx="3694176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Shape 17"/>
          <p:cNvSpPr/>
          <p:nvPr/>
        </p:nvSpPr>
        <p:spPr>
          <a:xfrm>
            <a:off x="4361688" y="2468880"/>
            <a:ext cx="3694176" cy="384048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4544568" y="2468880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44568" y="297180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mode · in chat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544568" y="3337560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chat, but runs in the cloud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44568" y="3703320"/>
            <a:ext cx="3328416" cy="1920240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4" name="Text 22"/>
          <p:cNvSpPr/>
          <p:nvPr/>
        </p:nvSpPr>
        <p:spPr>
          <a:xfrm>
            <a:off x="4636008" y="3794760"/>
            <a:ext cx="3145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Agents dropdown → Cloud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Pick up issue #42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&lt;ORG&gt;/store-app and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a PR.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Coding Agent picks it up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 its own runner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74736" y="2468880"/>
            <a:ext cx="3694176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6" name="Shape 24"/>
          <p:cNvSpPr/>
          <p:nvPr/>
        </p:nvSpPr>
        <p:spPr>
          <a:xfrm>
            <a:off x="8174736" y="2468880"/>
            <a:ext cx="3694176" cy="384048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8357616" y="2468880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57616" y="2971800"/>
            <a:ext cx="3328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 · web UI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357616" y="3337560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Fallback when VS Code isn't handy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357616" y="3703320"/>
            <a:ext cx="3328416" cy="1920240"/>
          </a:xfrm>
          <a:prstGeom prst="rect">
            <a:avLst/>
          </a:prstGeom>
          <a:solidFill>
            <a:srgbClr val="0F1117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8449056" y="3794760"/>
            <a:ext cx="31455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Open issue #42 in browser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Assignees</a:t>
            </a: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→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Copilot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 effect as A or B —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agent run + draft PR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42323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Shape 31"/>
          <p:cNvSpPr/>
          <p:nvPr/>
        </p:nvSpPr>
        <p:spPr>
          <a:xfrm>
            <a:off x="548640" y="5943600"/>
            <a:ext cx="73152" cy="365760"/>
          </a:xfrm>
          <a:prstGeom prst="rect">
            <a:avLst/>
          </a:prstGeom>
          <a:solidFill>
            <a:srgbClr val="C42323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777240" y="59436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4232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 </a:t>
            </a: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modify the issue body after assigning Copilot — the agent reads it at start time only. Use PR comments for follow-up.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2" name="Text 40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4" name="Text 42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8" name="Text 46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 / 28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3  ·  STEPS 5–7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· REVIEW · MERGE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on each PR via @copilot, add Copilot Code Review, merge in dependency order.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agent reads PR comments after it starts — not new issue comments.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2650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265016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777240" y="2697480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777240" y="3337560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sessions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3840480"/>
            <a:ext cx="219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all 3 PRs side-by-side. Click View session on each. Confirm scopes are disjoint.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5400000">
            <a:off x="3226232" y="3529584"/>
            <a:ext cx="109728" cy="164592"/>
          </a:xfrm>
          <a:prstGeom prst="rt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3363392" y="2468880"/>
            <a:ext cx="2650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8" name="Shape 16"/>
          <p:cNvSpPr/>
          <p:nvPr/>
        </p:nvSpPr>
        <p:spPr>
          <a:xfrm>
            <a:off x="3363392" y="2468880"/>
            <a:ext cx="265016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3591992" y="2697480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3591992" y="3337560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Iterate via @copilot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591992" y="3840480"/>
            <a:ext cx="219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diff comment, PR review, or conversation comment starting @copilot. Corrections only.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 rot="5400000">
            <a:off x="6040984" y="3529584"/>
            <a:ext cx="109728" cy="164592"/>
          </a:xfrm>
          <a:prstGeom prst="rt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Shape 21"/>
          <p:cNvSpPr/>
          <p:nvPr/>
        </p:nvSpPr>
        <p:spPr>
          <a:xfrm>
            <a:off x="6178144" y="2468880"/>
            <a:ext cx="2650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6178144" y="2468880"/>
            <a:ext cx="265016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6406744" y="2697480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06744" y="3337560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Copilot Code Review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6744" y="3840480"/>
            <a:ext cx="219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Reviewers → Copilot on each PR. Inline review comments arrive in ~30 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 rot="5400000">
            <a:off x="8855735" y="3529584"/>
            <a:ext cx="109728" cy="164592"/>
          </a:xfrm>
          <a:prstGeom prst="rtTriangle">
            <a:avLst/>
          </a:prstGeom>
          <a:solidFill>
            <a:srgbClr val="0000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8992895" y="2468880"/>
            <a:ext cx="265016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8992895" y="2468880"/>
            <a:ext cx="2650160" cy="73152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9221495" y="2697480"/>
            <a:ext cx="219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9221495" y="3337560"/>
            <a:ext cx="219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in dependency order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221495" y="3840480"/>
            <a:ext cx="219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→ Feature → Docs. Squash-merge via web UI signs with web-flow.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029200"/>
            <a:ext cx="11094415" cy="457200"/>
          </a:xfrm>
          <a:prstGeom prst="rect">
            <a:avLst/>
          </a:prstGeom>
          <a:solidFill>
            <a:srgbClr val="D6E6F2"/>
          </a:solidFill>
          <a:ln w="6350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731520" y="502920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ORDER  </a:t>
            </a:r>
            <a:r>
              <a:rPr lang="en-US" sz="115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Tests first (safety net)  →  Feature next (lands green)  →  Docs last (so README describes the new feature).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Shape 35"/>
          <p:cNvSpPr/>
          <p:nvPr/>
        </p:nvSpPr>
        <p:spPr>
          <a:xfrm>
            <a:off x="548640" y="5760720"/>
            <a:ext cx="411480" cy="502920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548640" y="5760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1097280" y="57607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  </a:t>
            </a:r>
            <a:r>
              <a:rPr lang="en-US" sz="12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PRs merged. main now has rich docs, ≥80% test coverage, and a working category filter at http://localhost:5173.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9" name="Text 47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1" name="Text 49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3" name="Text 51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/ 28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4974336" y="0"/>
            <a:ext cx="54864" cy="685800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kern="0" spc="8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8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914400" cy="64008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 Security tab + local Git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822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04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143000"/>
            <a:ext cx="6065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and assess Code Security + Code Quality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577840" y="2834640"/>
            <a:ext cx="822960" cy="54864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57784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596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577840" y="3596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Dependabot, Secret Protection, CodeQL Default setup, and Code Quality (preview)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4434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5778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42672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 four intentional findings on a vuln/demo-findings branch (paste-ready snippets in lab-04)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527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577840" y="527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51054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Triage in the Security tab; assign ONE CodeQL alert (search.ts) to Coding Agent; keep the other Open for Lab 5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 / 28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4  ·  PART 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FOUR SCANNERS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four toggles live in Settings → Security → Advanced Security.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Knock them out in one pass so the first scans warm up while we seed the demo findings.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86000"/>
            <a:ext cx="545576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91440" cy="169164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822960" y="2560320"/>
            <a:ext cx="777240" cy="77724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822960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737360" y="256032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Dependabot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37360" y="292608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Vulnerable open-source dependencies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37360" y="324612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Alerts + security updates + grouped updates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3520440"/>
            <a:ext cx="1371600" cy="292608"/>
          </a:xfrm>
          <a:prstGeom prst="rect">
            <a:avLst/>
          </a:prstGeom>
          <a:solidFill>
            <a:srgbClr val="EBF7EE"/>
          </a:solidFill>
          <a:ln w="635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822960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A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ENABLE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41568" y="2286000"/>
            <a:ext cx="545576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6141568" y="2286000"/>
            <a:ext cx="91440" cy="169164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Shape 20"/>
          <p:cNvSpPr/>
          <p:nvPr/>
        </p:nvSpPr>
        <p:spPr>
          <a:xfrm>
            <a:off x="6415888" y="2560320"/>
            <a:ext cx="777240" cy="77724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3" name="Text 21"/>
          <p:cNvSpPr/>
          <p:nvPr/>
        </p:nvSpPr>
        <p:spPr>
          <a:xfrm>
            <a:off x="6415888" y="25603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330288" y="256032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 Protection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30288" y="292608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Leaked credentials in code or history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30288" y="324612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 Scanning + Push Protection (one toggle)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15888" y="3520440"/>
            <a:ext cx="1371600" cy="292608"/>
          </a:xfrm>
          <a:prstGeom prst="rect">
            <a:avLst/>
          </a:prstGeom>
          <a:solidFill>
            <a:srgbClr val="EBF7EE"/>
          </a:solidFill>
          <a:ln w="635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6415888" y="35204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A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ENABLE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114800"/>
            <a:ext cx="545576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91440" cy="169164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Shape 29"/>
          <p:cNvSpPr/>
          <p:nvPr/>
        </p:nvSpPr>
        <p:spPr>
          <a:xfrm>
            <a:off x="822960" y="4389120"/>
            <a:ext cx="777240" cy="77724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82296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1737360" y="438912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Scanning (CodeQL)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737360" y="475488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Vulnerability patterns (e.g. CWE-89 SQLi)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737360" y="507492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Default setup — GitHub manages the workflow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22960" y="5349240"/>
            <a:ext cx="1371600" cy="292608"/>
          </a:xfrm>
          <a:prstGeom prst="rect">
            <a:avLst/>
          </a:prstGeom>
          <a:solidFill>
            <a:srgbClr val="EBF7EE"/>
          </a:solidFill>
          <a:ln w="635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822960" y="5349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A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ENABLE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41568" y="4114800"/>
            <a:ext cx="5455768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9" name="Shape 37"/>
          <p:cNvSpPr/>
          <p:nvPr/>
        </p:nvSpPr>
        <p:spPr>
          <a:xfrm>
            <a:off x="6141568" y="4114800"/>
            <a:ext cx="91440" cy="169164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Shape 38"/>
          <p:cNvSpPr/>
          <p:nvPr/>
        </p:nvSpPr>
        <p:spPr>
          <a:xfrm>
            <a:off x="6415888" y="4389120"/>
            <a:ext cx="777240" cy="77724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6415888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330288" y="4389120"/>
            <a:ext cx="4084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Quality (preview)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30288" y="475488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Reliability + maintainability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330288" y="5074920"/>
            <a:ext cx="4084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+ AI findings. No GHAS license needed.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415888" y="5349240"/>
            <a:ext cx="1371600" cy="292608"/>
          </a:xfrm>
          <a:prstGeom prst="rect">
            <a:avLst/>
          </a:prstGeom>
          <a:solidFill>
            <a:srgbClr val="EBF7EE"/>
          </a:solidFill>
          <a:ln w="635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6415888" y="53492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A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● ENABLE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8640" y="5897880"/>
            <a:ext cx="11094415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0067B8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8" name="Shape 46"/>
          <p:cNvSpPr/>
          <p:nvPr/>
        </p:nvSpPr>
        <p:spPr>
          <a:xfrm>
            <a:off x="548640" y="5897880"/>
            <a:ext cx="73152" cy="38404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9" name="Text 47"/>
          <p:cNvSpPr/>
          <p:nvPr/>
        </p:nvSpPr>
        <p:spPr>
          <a:xfrm>
            <a:off x="777240" y="589788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 </a:t>
            </a: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With all four enabled, switch to a feature branch and seed intentional findings. Snippets are paste-ready in lab-04-ghas-security.md.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3" name="Text 51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5" name="Text 53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7" name="Text 55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9" name="Text 57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1" name="Text 59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63" name="Text 61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 / 28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4  ·  PARTS B–E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SEED, ASSESS, HAND 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intentional findings on vuln/demo-findings, then assign ONE alert to Copilot.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Leave the second SQL-injection (lookup.ts) Open — Lab 5 uses it to demo Autofix.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SEEDED ON vuln/demo-findings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6400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4864" cy="50292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731520" y="283464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lodash 4.17.20 pin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1520" y="304495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server/package.json</a:t>
            </a:r>
            <a:r>
              <a:rPr lang="en-US" sz="95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Dependabot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6400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54864" cy="50292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8" name="Text 16"/>
          <p:cNvSpPr/>
          <p:nvPr/>
        </p:nvSpPr>
        <p:spPr>
          <a:xfrm>
            <a:off x="731520" y="338328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js/sql-injection (search route)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31520" y="359359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server/src/routes/search.ts</a:t>
            </a:r>
            <a:r>
              <a:rPr lang="en-US" sz="95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Code Scanning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6400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Shape 19"/>
          <p:cNvSpPr/>
          <p:nvPr/>
        </p:nvSpPr>
        <p:spPr>
          <a:xfrm>
            <a:off x="548640" y="3886200"/>
            <a:ext cx="54864" cy="50292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731520" y="393192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js/sql-injection (lookup route)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31520" y="414223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server/src/routes/lookup.ts</a:t>
            </a:r>
            <a:r>
              <a:rPr lang="en-US" sz="95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Code Scanning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6400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Shape 23"/>
          <p:cNvSpPr/>
          <p:nvPr/>
        </p:nvSpPr>
        <p:spPr>
          <a:xfrm>
            <a:off x="548640" y="4434840"/>
            <a:ext cx="54864" cy="50292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6" name="Text 24"/>
          <p:cNvSpPr/>
          <p:nvPr/>
        </p:nvSpPr>
        <p:spPr>
          <a:xfrm>
            <a:off x="731520" y="448056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Fake AWS / PAT in .env.example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31520" y="469087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.env.example</a:t>
            </a:r>
            <a:r>
              <a:rPr lang="en-US" sz="95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Secret Scanning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4983480"/>
            <a:ext cx="6400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Shape 27"/>
          <p:cNvSpPr/>
          <p:nvPr/>
        </p:nvSpPr>
        <p:spPr>
          <a:xfrm>
            <a:off x="548640" y="4983480"/>
            <a:ext cx="54864" cy="50292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731520" y="5029200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smell (duplicate / unused)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31520" y="5239512"/>
            <a:ext cx="6126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A6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server/src/utils/quality-smell.ts</a:t>
            </a:r>
            <a:r>
              <a:rPr lang="en-US" sz="950" b="1" dirty="0">
                <a:solidFill>
                  <a:srgbClr val="F2B6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→  Code Quality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315200" y="2468880"/>
            <a:ext cx="4327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HANDOFF TO CODING AGENT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0" y="2788920"/>
            <a:ext cx="4327855" cy="2743200"/>
          </a:xfrm>
          <a:prstGeom prst="rect">
            <a:avLst/>
          </a:prstGeom>
          <a:solidFill>
            <a:srgbClr val="F4F4F7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7498080" y="292608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→ Code scanning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98080" y="3200400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4A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SQL-injection alert for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498080" y="3456432"/>
            <a:ext cx="3962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server/src/routes/search.ts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 rot="10800000">
            <a:off x="9341968" y="3794760"/>
            <a:ext cx="274320" cy="201168"/>
          </a:xfrm>
          <a:prstGeom prst="rtTriangle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7498080" y="411480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Assignees  →  Copilot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498080" y="4526280"/>
            <a:ext cx="39620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Within ~30 seconds: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498080" y="4754880"/>
            <a:ext cx="39620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👀 reaction on the alert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Draft PR opens automatically</a:t>
            </a:r>
            <a:endParaRPr lang="en-US" sz="1100" dirty="0"/>
          </a:p>
          <a:p>
            <a:pPr marL="0" indent="0">
              <a:spcAft>
                <a:spcPts val="100"/>
              </a:spcAft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Agent session is replayable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2" name="Shape 40"/>
          <p:cNvSpPr/>
          <p:nvPr/>
        </p:nvSpPr>
        <p:spPr>
          <a:xfrm>
            <a:off x="548640" y="5760720"/>
            <a:ext cx="411480" cy="502920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548640" y="576072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1097280" y="5760720"/>
            <a:ext cx="103628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  </a:t>
            </a:r>
            <a:r>
              <a:rPr lang="en-US" sz="12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Push Protection blocked then accepted after bypass · 4 alerts visible · search.ts assigned to Copilot · lookup.ts stays Open.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6" name="Text 44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8" name="Text 46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2" name="Text 50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4" name="Text 52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6" name="Text 54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8" name="Text 56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 / 28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4974336" y="0"/>
            <a:ext cx="54864" cy="685800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kern="0" spc="8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2920" y="1280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8000" dirty="0"/>
          </a:p>
        </p:txBody>
      </p:sp>
      <p:sp>
        <p:nvSpPr>
          <p:cNvPr id="6" name="Shape 4"/>
          <p:cNvSpPr/>
          <p:nvPr/>
        </p:nvSpPr>
        <p:spPr>
          <a:xfrm>
            <a:off x="548640" y="5029200"/>
            <a:ext cx="914400" cy="64008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548640" y="5212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5440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min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852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400" dirty="0">
                <a:solidFill>
                  <a:srgbClr val="1FB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SURFACE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6080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 — entirely browser-driven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82296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05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1143000"/>
            <a:ext cx="606521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Remediate with Copilot Autofix + the Coding Agent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5577840" y="2834640"/>
            <a:ext cx="822960" cy="54864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4" name="Text 12"/>
          <p:cNvSpPr/>
          <p:nvPr/>
        </p:nvSpPr>
        <p:spPr>
          <a:xfrm>
            <a:off x="5577840" y="30632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35966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5577840" y="3596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34290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lookup.ts SQL injection via Copilot Autofix (Option A) — one-click suggested diff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577840" y="44348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9" name="Text 17"/>
          <p:cNvSpPr/>
          <p:nvPr/>
        </p:nvSpPr>
        <p:spPr>
          <a:xfrm>
            <a:off x="55778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09360" y="42672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search.ts SQL injection via Coding Agent (Option B) — iterate via @copilot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577840" y="5273040"/>
            <a:ext cx="50292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2" name="Text 20"/>
          <p:cNvSpPr/>
          <p:nvPr/>
        </p:nvSpPr>
        <p:spPr>
          <a:xfrm>
            <a:off x="5577840" y="527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309360" y="5105400"/>
            <a:ext cx="542513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same pattern to Dependabot (auto-PR vs escalation) and Code Quality (Coding Agent)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7" name="Text 25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1" name="Text 29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5" name="Text 33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/ 28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REMEDIATION SURFACES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alert can close two ways — pick by scope, not by capability.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options end with a merged PR and a closed alert on the next scan.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54100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5410048" cy="73152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822960" y="2578608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28346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Autofix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22960" y="3383280"/>
            <a:ext cx="4861408" cy="457200"/>
          </a:xfrm>
          <a:prstGeom prst="rect">
            <a:avLst/>
          </a:prstGeom>
          <a:solidFill>
            <a:srgbClr val="F4F4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Text 14"/>
          <p:cNvSpPr/>
          <p:nvPr/>
        </p:nvSpPr>
        <p:spPr>
          <a:xfrm>
            <a:off x="960120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338328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7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fix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023360"/>
            <a:ext cx="4769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Suggested diff appears in seconds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to a new branch + auto-opened PR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before commit; retry for new attempt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892040"/>
            <a:ext cx="486140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Text 18"/>
          <p:cNvSpPr/>
          <p:nvPr/>
        </p:nvSpPr>
        <p:spPr>
          <a:xfrm>
            <a:off x="960120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4892040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localized CodeQL alert.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539496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it for lookup.ts (left Open from Lab 4).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33008" y="2468880"/>
            <a:ext cx="54100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6233008" y="2468880"/>
            <a:ext cx="5410048" cy="731520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6507328" y="2578608"/>
            <a:ext cx="486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B8C5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07328" y="2834640"/>
            <a:ext cx="486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Coding Agent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507328" y="3383280"/>
            <a:ext cx="4861408" cy="457200"/>
          </a:xfrm>
          <a:prstGeom prst="rect">
            <a:avLst/>
          </a:prstGeom>
          <a:solidFill>
            <a:srgbClr val="F4F4F7"/>
          </a:solidFill>
          <a:ln w="6350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6644488" y="33832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13168" y="3383280"/>
            <a:ext cx="3947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Assignees → Copilot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90208" y="4023360"/>
            <a:ext cx="476996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 PR + replayable agent session in ~30 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Comment @copilot on PR — agent re-runs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15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on agent PRs require approval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507328" y="4892040"/>
            <a:ext cx="4861408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6644488" y="48920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FOR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513168" y="4892040"/>
            <a:ext cx="3947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Cross-file, Dependabot bumps, Code Quality.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07328" y="5394960"/>
            <a:ext cx="486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20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it for search.ts (pre-assigned in Lab 4).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F2B600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6" name="Shape 34"/>
          <p:cNvSpPr/>
          <p:nvPr/>
        </p:nvSpPr>
        <p:spPr>
          <a:xfrm>
            <a:off x="548640" y="5943600"/>
            <a:ext cx="73152" cy="365760"/>
          </a:xfrm>
          <a:prstGeom prst="rect">
            <a:avLst/>
          </a:prstGeom>
          <a:solidFill>
            <a:srgbClr val="F2B60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777240" y="594360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2B6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ARE AI SUGGESTIONS  </a:t>
            </a:r>
            <a:r>
              <a:rPr lang="en-US" sz="11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  read the diff, run the tests, confirm the re-scan closes the alert.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9" name="Text 37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3" name="Text 41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7" name="Text 45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9" name="Text 47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1" name="Text 49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/ 28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7436815" y="29260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3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5  ·  STEPS 3–5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500055" y="347472"/>
            <a:ext cx="10973" cy="164592"/>
          </a:xfrm>
          <a:prstGeom prst="rect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10545775" y="29260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min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PATTERN, OTHER FINDINGS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A/B to Dependabot and Coding-Agent-only to Code Quality. Then verify.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Autofix doesn't apply to Code Quality findings today — use Assignees → Copilot.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468880"/>
            <a:ext cx="358841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2" name="Shape 10"/>
          <p:cNvSpPr/>
          <p:nvPr/>
        </p:nvSpPr>
        <p:spPr>
          <a:xfrm>
            <a:off x="548640" y="2468880"/>
            <a:ext cx="3588410" cy="38404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313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DEPENDABOT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77240" y="2971800"/>
            <a:ext cx="313121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2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A — take the auto-PR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Bump-lodash PR Dependabot opened.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Skim changelog · wait for CI · Approve+Run if needed · squash-merge.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 B — escalate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breaking bumps: Alert → Assignees → Copilot.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bumps + updates call sites + re-runs tests.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4301642" y="2468880"/>
            <a:ext cx="358841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6" name="Shape 14"/>
          <p:cNvSpPr/>
          <p:nvPr/>
        </p:nvSpPr>
        <p:spPr>
          <a:xfrm>
            <a:off x="4301642" y="2468880"/>
            <a:ext cx="3588410" cy="384048"/>
          </a:xfrm>
          <a:prstGeom prst="rect">
            <a:avLst/>
          </a:prstGeom>
          <a:solidFill>
            <a:srgbClr val="00205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4530242" y="2468880"/>
            <a:ext cx="313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30242" y="2971800"/>
            <a:ext cx="313121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2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 Option A?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Autofix today targets CodeQL security queries only.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→ Code quality → Standard findings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the smell finding → Assignees → Copilot.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opens a draft PR (or deletes the dead file).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054645" y="2468880"/>
            <a:ext cx="3588410" cy="3337560"/>
          </a:xfrm>
          <a:prstGeom prst="rect">
            <a:avLst/>
          </a:prstGeom>
          <a:solidFill>
            <a:srgbClr val="FFFFFF"/>
          </a:solidFill>
          <a:ln w="9525">
            <a:solidFill>
              <a:srgbClr val="D1D1D6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0" name="Shape 18"/>
          <p:cNvSpPr/>
          <p:nvPr/>
        </p:nvSpPr>
        <p:spPr>
          <a:xfrm>
            <a:off x="8054645" y="2468880"/>
            <a:ext cx="3588410" cy="384048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8283245" y="2468880"/>
            <a:ext cx="313121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83245" y="2971800"/>
            <a:ext cx="313121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12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all four fix PRs merge: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→ CodeQL + Code Quality re-run on main.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sidebar: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Code scanning — both SQLi alerts → Fixed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Dependabot — lodash → Fixed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Code quality — smell → Resolved</a:t>
            </a:r>
            <a:endParaRPr lang="en-US" sz="112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2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Secret scanning — fakes stay Open (intentional)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548640" y="5925312"/>
            <a:ext cx="110944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A36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4" name="Shape 22"/>
          <p:cNvSpPr/>
          <p:nvPr/>
        </p:nvSpPr>
        <p:spPr>
          <a:xfrm>
            <a:off x="548640" y="5925312"/>
            <a:ext cx="411480" cy="384048"/>
          </a:xfrm>
          <a:prstGeom prst="rect">
            <a:avLst/>
          </a:prstGeom>
          <a:solidFill>
            <a:srgbClr val="00A36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548640" y="5925312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097280" y="5925312"/>
            <a:ext cx="103628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00A3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CHECKPOINT   </a:t>
            </a:r>
            <a:r>
              <a:rPr lang="en-US" sz="12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alerts (2 security + 1 dependency + 1 quality) flipped Open → Fixed/Resolved, closed by two different AI options.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07172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0" name="Text 28"/>
          <p:cNvSpPr/>
          <p:nvPr/>
        </p:nvSpPr>
        <p:spPr>
          <a:xfrm>
            <a:off x="49528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43748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2" name="Text 30"/>
          <p:cNvSpPr/>
          <p:nvPr/>
        </p:nvSpPr>
        <p:spPr>
          <a:xfrm>
            <a:off x="531860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80324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4" name="Text 32"/>
          <p:cNvSpPr/>
          <p:nvPr/>
        </p:nvSpPr>
        <p:spPr>
          <a:xfrm>
            <a:off x="568436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16900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6" name="Text 34"/>
          <p:cNvSpPr/>
          <p:nvPr/>
        </p:nvSpPr>
        <p:spPr>
          <a:xfrm>
            <a:off x="605012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534760" y="6492240"/>
            <a:ext cx="146304" cy="146304"/>
          </a:xfrm>
          <a:prstGeom prst="ellipse">
            <a:avLst/>
          </a:prstGeom>
          <a:solidFill>
            <a:srgbClr val="D1D1D6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8" name="Text 36"/>
          <p:cNvSpPr/>
          <p:nvPr/>
        </p:nvSpPr>
        <p:spPr>
          <a:xfrm>
            <a:off x="641588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900520" y="6492240"/>
            <a:ext cx="146304" cy="146304"/>
          </a:xfrm>
          <a:prstGeom prst="ellipse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0" name="Text 38"/>
          <p:cNvSpPr/>
          <p:nvPr/>
        </p:nvSpPr>
        <p:spPr>
          <a:xfrm>
            <a:off x="6781648" y="665683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 / 28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109728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48640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Shape 2"/>
          <p:cNvSpPr/>
          <p:nvPr/>
        </p:nvSpPr>
        <p:spPr>
          <a:xfrm>
            <a:off x="164592" y="164592"/>
            <a:ext cx="164592" cy="164592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WRAP-UP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5156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used across the full SDLC loop today.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A6A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the prompt templates home. Tune them. Start with one low-risk repo.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94415" cy="347472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STAGE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697480" y="2331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YOU USED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086600" y="2331720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3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AI DID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" y="2679192"/>
            <a:ext cx="11094415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3" name="Text 11"/>
          <p:cNvSpPr/>
          <p:nvPr/>
        </p:nvSpPr>
        <p:spPr>
          <a:xfrm>
            <a:off x="685800" y="267919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97480" y="2679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Plan Mode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086600" y="2679192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Drafted the MVP plan; drafted three parallel briefs in Lab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11094415" cy="347472"/>
          </a:xfrm>
          <a:prstGeom prst="rect">
            <a:avLst/>
          </a:prstGeom>
          <a:solidFill>
            <a:srgbClr val="F4F4F7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17" name="Text 15"/>
          <p:cNvSpPr/>
          <p:nvPr/>
        </p:nvSpPr>
        <p:spPr>
          <a:xfrm>
            <a:off x="685800" y="302666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SCAFFOLD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97480" y="30266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/create-agent  ·  /create-skill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86600" y="3026664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3 reusable personas + 3 lazy-load skills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1" name="Text 19"/>
          <p:cNvSpPr/>
          <p:nvPr/>
        </p:nvSpPr>
        <p:spPr>
          <a:xfrm>
            <a:off x="685800" y="337413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97480" y="337413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 agents + skills (Agent Mode)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86600" y="3374136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backend + frontend + SQLite; tightened validation inline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721608"/>
            <a:ext cx="11094415" cy="347472"/>
          </a:xfrm>
          <a:prstGeom prst="rect">
            <a:avLst/>
          </a:prstGeom>
          <a:solidFill>
            <a:srgbClr val="F4F4F7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5" name="Text 23"/>
          <p:cNvSpPr/>
          <p:nvPr/>
        </p:nvSpPr>
        <p:spPr>
          <a:xfrm>
            <a:off x="685800" y="372160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697480" y="37216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 Commit Message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086600" y="3721608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Summarized diffs as Conventional Commits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4069080"/>
            <a:ext cx="11094415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29" name="Text 27"/>
          <p:cNvSpPr/>
          <p:nvPr/>
        </p:nvSpPr>
        <p:spPr>
          <a:xfrm>
            <a:off x="685800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(IDE)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97480" y="4069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Review — Uncommitted Changes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086600" y="4069080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Caught issues before push (Lab 1)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416552"/>
            <a:ext cx="11094415" cy="347472"/>
          </a:xfrm>
          <a:prstGeom prst="rect">
            <a:avLst/>
          </a:prstGeom>
          <a:solidFill>
            <a:srgbClr val="F4F4F7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3" name="Text 31"/>
          <p:cNvSpPr/>
          <p:nvPr/>
        </p:nvSpPr>
        <p:spPr>
          <a:xfrm>
            <a:off x="685800" y="4416552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ASYNC CODE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2697480" y="44165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Coding Agent (issue → PR)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086600" y="4416552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Shipped docs + tests + feature in 3 parallel PRs (Lab 3)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764024"/>
            <a:ext cx="11094415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37" name="Text 35"/>
          <p:cNvSpPr/>
          <p:nvPr/>
        </p:nvSpPr>
        <p:spPr>
          <a:xfrm>
            <a:off x="685800" y="476402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(PR)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697480" y="476402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Code Review on the PR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086600" y="4764024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Reviewed all three PRs with consistent rigor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5111496"/>
            <a:ext cx="11094415" cy="347472"/>
          </a:xfrm>
          <a:prstGeom prst="rect">
            <a:avLst/>
          </a:prstGeom>
          <a:solidFill>
            <a:srgbClr val="F4F4F7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1" name="Text 39"/>
          <p:cNvSpPr/>
          <p:nvPr/>
        </p:nvSpPr>
        <p:spPr>
          <a:xfrm>
            <a:off x="685800" y="511149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697480" y="5111496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CodeQL · Secret · Push · Dependabot · Code Quality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86600" y="5111496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 4 intentional issues continuously (Lab 4)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48640" y="5458968"/>
            <a:ext cx="11094415" cy="347472"/>
          </a:xfrm>
          <a:prstGeom prst="rect">
            <a:avLst/>
          </a:prstGeom>
          <a:solidFill>
            <a:srgbClr val="FFFFFF"/>
          </a:solidFill>
          <a:ln w="3175">
            <a:solidFill>
              <a:srgbClr val="E8E8EC"/>
            </a:solidFill>
            <a:prstDash val="solid"/>
          </a:ln>
        </p:spPr>
        <p:txBody>
          <a:bodyPr/>
          <a:lstStyle/>
          <a:p>
            <a:endParaRPr lang="en-TH"/>
          </a:p>
        </p:txBody>
      </p:sp>
      <p:sp>
        <p:nvSpPr>
          <p:cNvPr id="45" name="Text 43"/>
          <p:cNvSpPr/>
          <p:nvPr/>
        </p:nvSpPr>
        <p:spPr>
          <a:xfrm>
            <a:off x="685800" y="545896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REMEDIATE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697480" y="545896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161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 Autofix + Coding Agent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086600" y="5458968"/>
            <a:ext cx="441929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B2B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Closed security + dep + quality alerts (Lab 5)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9" name="Shape 47"/>
          <p:cNvSpPr/>
          <p:nvPr/>
        </p:nvSpPr>
        <p:spPr>
          <a:xfrm>
            <a:off x="548640" y="5943600"/>
            <a:ext cx="73152" cy="36576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0" name="Text 48"/>
          <p:cNvSpPr/>
          <p:nvPr/>
        </p:nvSpPr>
        <p:spPr>
          <a:xfrm>
            <a:off x="548640" y="59436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are force multipliers on engineering hygiene.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48640" y="6355080"/>
            <a:ext cx="11094415" cy="10973"/>
          </a:xfrm>
          <a:prstGeom prst="rect">
            <a:avLst/>
          </a:prstGeom>
          <a:solidFill>
            <a:srgbClr val="E8E8EC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52" name="Text 50"/>
          <p:cNvSpPr/>
          <p:nvPr/>
        </p:nvSpPr>
        <p:spPr>
          <a:xfrm>
            <a:off x="548640" y="647395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SDLC on GitHub  ·  Customer workshop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 / 28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A1530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3" name="Shape 1"/>
          <p:cNvSpPr/>
          <p:nvPr/>
        </p:nvSpPr>
        <p:spPr>
          <a:xfrm>
            <a:off x="457200" y="0"/>
            <a:ext cx="73152" cy="6858000"/>
          </a:xfrm>
          <a:prstGeom prst="rect">
            <a:avLst/>
          </a:prstGeom>
          <a:solidFill>
            <a:srgbClr val="1FB6FF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4" name="Text 2"/>
          <p:cNvSpPr/>
          <p:nvPr/>
        </p:nvSpPr>
        <p:spPr>
          <a:xfrm>
            <a:off x="914400" y="777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500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1887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questions for the next ten minutes.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1188720" cy="54864"/>
          </a:xfrm>
          <a:prstGeom prst="rect">
            <a:avLst/>
          </a:prstGeom>
          <a:solidFill>
            <a:srgbClr val="0067B8"/>
          </a:solidFill>
          <a:ln/>
        </p:spPr>
        <p:txBody>
          <a:bodyPr/>
          <a:lstStyle/>
          <a:p>
            <a:endParaRPr lang="en-TH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377440" y="2788920"/>
            <a:ext cx="9265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did the AI beat a human today, and where did the human stay in the loop?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377440" y="3931920"/>
            <a:ext cx="9265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lab maps most directly to a bottleneck on your real team — planning, review, security, or remediation?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983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067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2377440" y="5074920"/>
            <a:ext cx="9265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6161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your 'one low-risk repo' to install this operating model in the next 30 days?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6355080"/>
            <a:ext cx="10362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you.    Your developers leave with the operating model in the repository — not just on a slide.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28655" y="64739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2929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 / 28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4364</Words>
  <Application>Microsoft Macintosh PowerPoint</Application>
  <PresentationFormat>Widescreen</PresentationFormat>
  <Paragraphs>813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End-to-End Agentic SDLC on GitHub — Workshop</dc:title>
  <dc:subject>PptxGenJS Presentation</dc:subject>
  <dc:creator>Workshop facilitator</dc:creator>
  <cp:lastModifiedBy>Jiratouch Mahapol</cp:lastModifiedBy>
  <cp:revision>2</cp:revision>
  <dcterms:created xsi:type="dcterms:W3CDTF">2026-05-18T16:31:00Z</dcterms:created>
  <dcterms:modified xsi:type="dcterms:W3CDTF">2026-05-20T03:33:41Z</dcterms:modified>
</cp:coreProperties>
</file>